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7"/>
  </p:notesMasterIdLst>
  <p:sldIdLst>
    <p:sldId id="256" r:id="rId2"/>
    <p:sldId id="308" r:id="rId3"/>
    <p:sldId id="257" r:id="rId4"/>
    <p:sldId id="305" r:id="rId5"/>
    <p:sldId id="307" r:id="rId6"/>
    <p:sldId id="306" r:id="rId7"/>
    <p:sldId id="259" r:id="rId8"/>
    <p:sldId id="261" r:id="rId9"/>
    <p:sldId id="309" r:id="rId10"/>
    <p:sldId id="271" r:id="rId11"/>
    <p:sldId id="310" r:id="rId12"/>
    <p:sldId id="311" r:id="rId13"/>
    <p:sldId id="312" r:id="rId14"/>
    <p:sldId id="314" r:id="rId15"/>
    <p:sldId id="313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283" r:id="rId26"/>
  </p:sldIdLst>
  <p:sldSz cx="9144000" cy="5143500" type="screen16x9"/>
  <p:notesSz cx="6858000" cy="9144000"/>
  <p:embeddedFontLst>
    <p:embeddedFont>
      <p:font typeface="Figtree Black" panose="020B0604020202020204" charset="0"/>
      <p:bold r:id="rId28"/>
      <p:boldItalic r:id="rId29"/>
    </p:embeddedFont>
    <p:embeddedFont>
      <p:font typeface="Hanken Grotesk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B48FAD-B2CE-4F0D-8155-92FB789774B2}">
  <a:tblStyle styleId="{37B48FAD-B2CE-4F0D-8155-92FB789774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2143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1545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18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390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9184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2137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014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668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8505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5381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340135a08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340135a08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ubTitle" idx="1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3" name="Google Shape;263;p27"/>
          <p:cNvSpPr txBox="1">
            <a:spLocks noGrp="1"/>
          </p:cNvSpPr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7"/>
          <p:cNvSpPr txBox="1">
            <a:spLocks noGrp="1"/>
          </p:cNvSpPr>
          <p:nvPr>
            <p:ph type="subTitle" idx="1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5" r:id="rId5"/>
    <p:sldLayoutId id="2147483658" r:id="rId6"/>
    <p:sldLayoutId id="2147483660" r:id="rId7"/>
    <p:sldLayoutId id="2147483673" r:id="rId8"/>
    <p:sldLayoutId id="2147483674" r:id="rId9"/>
    <p:sldLayoutId id="214748367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051560"/>
            <a:ext cx="5897400" cy="20112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Advanced Databases</a:t>
            </a:r>
            <a:endParaRPr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5F115-785D-C983-5006-5B2913FC1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0070C0"/>
                </a:solidFill>
              </a:rPr>
              <a:t>Lecture 2 (Lab/Practical)</a:t>
            </a:r>
            <a:endParaRPr lang="ar-SY" sz="2000" dirty="0">
              <a:solidFill>
                <a:srgbClr val="0070C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01D966-AC53-B318-FCC0-7D9F37121C1B}"/>
              </a:ext>
            </a:extLst>
          </p:cNvPr>
          <p:cNvSpPr txBox="1">
            <a:spLocks/>
          </p:cNvSpPr>
          <p:nvPr/>
        </p:nvSpPr>
        <p:spPr>
          <a:xfrm>
            <a:off x="1132845" y="3431828"/>
            <a:ext cx="5897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r>
              <a:rPr lang="en-US" sz="1000" dirty="0">
                <a:solidFill>
                  <a:schemeClr val="tx2"/>
                </a:solidFill>
              </a:rPr>
              <a:t>Khouzama Alyoussef</a:t>
            </a:r>
            <a:endParaRPr lang="ar-SY" sz="1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OLTP vs OLAP – Key Differences</a:t>
            </a:r>
            <a:endParaRPr dirty="0"/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4294967295"/>
          </p:nvPr>
        </p:nvSpPr>
        <p:spPr>
          <a:xfrm>
            <a:off x="720000" y="1036800"/>
            <a:ext cx="7704000" cy="3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ar-SY" b="1" dirty="0">
                <a:solidFill>
                  <a:srgbClr val="0070C0"/>
                </a:solidFill>
              </a:rPr>
              <a:t>📊 </a:t>
            </a:r>
            <a:r>
              <a:rPr lang="en-US" b="1" dirty="0">
                <a:solidFill>
                  <a:srgbClr val="0070C0"/>
                </a:solidFill>
              </a:rPr>
              <a:t>OLTP (Online Transaction Processing)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Handles day-to-day operations and transactions.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Operations</a:t>
            </a:r>
            <a:r>
              <a:rPr lang="en-US" dirty="0"/>
              <a:t>: INSERT, UPDATE, DELETE – fast, frequent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Type</a:t>
            </a:r>
            <a:r>
              <a:rPr lang="en-US" dirty="0"/>
              <a:t>: Current, real-time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Volume</a:t>
            </a:r>
            <a:r>
              <a:rPr lang="en-US" dirty="0"/>
              <a:t>: Relatively small and specific.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Users</a:t>
            </a:r>
            <a:r>
              <a:rPr lang="en-US" dirty="0"/>
              <a:t>: Front-line employees, systems, and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Design Model</a:t>
            </a:r>
            <a:r>
              <a:rPr lang="en-US" dirty="0"/>
              <a:t>: Highly normalized (ERD – Entity Relationship Diagram).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Focus</a:t>
            </a:r>
            <a:r>
              <a:rPr lang="en-US" dirty="0"/>
              <a:t>: Efficiency, speed, and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168945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OLTP vs OLAP – Key Differences</a:t>
            </a:r>
            <a:endParaRPr dirty="0"/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4294967295"/>
          </p:nvPr>
        </p:nvSpPr>
        <p:spPr>
          <a:xfrm>
            <a:off x="720000" y="1036800"/>
            <a:ext cx="7704000" cy="3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ar-SY" b="1" dirty="0"/>
              <a:t>📊</a:t>
            </a:r>
            <a:r>
              <a:rPr lang="en-US" b="1" dirty="0"/>
              <a:t> OLTP – Application Example</a:t>
            </a:r>
          </a:p>
          <a:p>
            <a:r>
              <a:rPr lang="en-US" b="1" dirty="0">
                <a:solidFill>
                  <a:srgbClr val="0070C0"/>
                </a:solidFill>
              </a:rPr>
              <a:t>Domain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b="1" dirty="0">
                <a:solidFill>
                  <a:srgbClr val="0070C0"/>
                </a:solidFill>
              </a:rPr>
              <a:t>E-commerce Website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b="1" dirty="0"/>
              <a:t>Use Case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a customer places an order, the OLTP system: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Inserts a new order record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Updates the inventory count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Modifies the customer’s order history</a:t>
            </a:r>
          </a:p>
          <a:p>
            <a:r>
              <a:rPr lang="en-US" b="1" dirty="0"/>
              <a:t>Purpose</a:t>
            </a:r>
            <a:r>
              <a:rPr lang="en-US" dirty="0"/>
              <a:t>: Fast and reliable transaction processing to ensure smooth user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OLTP vs OLAP – Key Differences</a:t>
            </a:r>
            <a:endParaRPr dirty="0"/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4294967295"/>
          </p:nvPr>
        </p:nvSpPr>
        <p:spPr>
          <a:xfrm>
            <a:off x="720000" y="1036800"/>
            <a:ext cx="7704000" cy="3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ar-SY" b="1" dirty="0">
                <a:solidFill>
                  <a:srgbClr val="0070C0"/>
                </a:solidFill>
              </a:rPr>
              <a:t>📊 </a:t>
            </a:r>
            <a:r>
              <a:rPr lang="en-US" b="1" dirty="0">
                <a:solidFill>
                  <a:srgbClr val="0070C0"/>
                </a:solidFill>
              </a:rPr>
              <a:t>OLAP (Online Analytical Processing)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Supports complex queries for analysis and reporting.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Operations</a:t>
            </a:r>
            <a:r>
              <a:rPr lang="en-US" dirty="0"/>
              <a:t>: SELECT with complex joins, aggregations, and groupings.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Type</a:t>
            </a:r>
            <a:r>
              <a:rPr lang="en-US" dirty="0"/>
              <a:t>: Historical and summarized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Volume</a:t>
            </a:r>
            <a:r>
              <a:rPr lang="en-US" dirty="0"/>
              <a:t>: Large volumes, often spanning years.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Users</a:t>
            </a:r>
            <a:r>
              <a:rPr lang="en-US" dirty="0"/>
              <a:t>: Analysts, managers, decision-makers.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Design Model</a:t>
            </a:r>
            <a:r>
              <a:rPr lang="en-US" dirty="0"/>
              <a:t>: Denormalized (MER – Multidimensional Entity Relationship / Dimensional Modeling).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Focus</a:t>
            </a:r>
            <a:r>
              <a:rPr lang="en-US" dirty="0"/>
              <a:t>: Performance in reading/analyzing large data sets.</a:t>
            </a:r>
          </a:p>
        </p:txBody>
      </p:sp>
    </p:spTree>
    <p:extLst>
      <p:ext uri="{BB962C8B-B14F-4D97-AF65-F5344CB8AC3E}">
        <p14:creationId xmlns:p14="http://schemas.microsoft.com/office/powerpoint/2010/main" val="3044075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OLTP vs OLAP – Key Differences</a:t>
            </a:r>
            <a:endParaRPr dirty="0"/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4294967295"/>
          </p:nvPr>
        </p:nvSpPr>
        <p:spPr>
          <a:xfrm>
            <a:off x="720000" y="1036800"/>
            <a:ext cx="7704000" cy="3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b="1" dirty="0"/>
              <a:t>📊 OLAP – Application Example</a:t>
            </a:r>
          </a:p>
          <a:p>
            <a:r>
              <a:rPr lang="en-US" b="1" dirty="0">
                <a:solidFill>
                  <a:srgbClr val="0070C0"/>
                </a:solidFill>
              </a:rPr>
              <a:t>Domain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b="1" dirty="0">
                <a:solidFill>
                  <a:srgbClr val="0070C0"/>
                </a:solidFill>
              </a:rPr>
              <a:t>Retail Business Intelligence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b="1" dirty="0"/>
              <a:t>Use Case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business analyst wants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Compare product sales across regions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Identify seasonal sales trends over the last 5 years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 customer purchasing behavior by demographics</a:t>
            </a:r>
          </a:p>
          <a:p>
            <a:r>
              <a:rPr lang="en-US" b="1" dirty="0"/>
              <a:t>Purpose</a:t>
            </a:r>
            <a:r>
              <a:rPr lang="en-US" dirty="0"/>
              <a:t>: To generate detailed reports and support strategic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429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OLTP vs OLAP – Key Differences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2A8CEA-24B0-764B-757D-A685BC4B7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674466"/>
              </p:ext>
            </p:extLst>
          </p:nvPr>
        </p:nvGraphicFramePr>
        <p:xfrm>
          <a:off x="712788" y="1271239"/>
          <a:ext cx="7718424" cy="2930556"/>
        </p:xfrm>
        <a:graphic>
          <a:graphicData uri="http://schemas.openxmlformats.org/drawingml/2006/table">
            <a:tbl>
              <a:tblPr/>
              <a:tblGrid>
                <a:gridCol w="2572808">
                  <a:extLst>
                    <a:ext uri="{9D8B030D-6E8A-4147-A177-3AD203B41FA5}">
                      <a16:colId xmlns:a16="http://schemas.microsoft.com/office/drawing/2014/main" val="4138145142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2697531859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2998572134"/>
                    </a:ext>
                  </a:extLst>
                </a:gridCol>
              </a:tblGrid>
              <a:tr h="333018">
                <a:tc>
                  <a:txBody>
                    <a:bodyPr/>
                    <a:lstStyle/>
                    <a:p>
                      <a:r>
                        <a:rPr lang="en-US" b="1" dirty="0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OLTP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OLAP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599569"/>
                  </a:ext>
                </a:extLst>
              </a:tr>
              <a:tr h="56613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Transaction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analysis and decision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579181"/>
                  </a:ext>
                </a:extLst>
              </a:tr>
              <a:tr h="56613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Write-heavy (Insert, Update, Delete)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Read-heavy (complex Select queries)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540581"/>
                  </a:ext>
                </a:extLst>
              </a:tr>
              <a:tr h="33301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Current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Historical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131645"/>
                  </a:ext>
                </a:extLst>
              </a:tr>
              <a:tr h="56613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Design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ERD (Normalized)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MER / Dimensional (Denormalized)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547392"/>
                  </a:ext>
                </a:extLst>
              </a:tr>
              <a:tr h="56613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Operational staff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Business analysts and executives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01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54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1216475" y="1501698"/>
            <a:ext cx="5067600" cy="13172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🛒 </a:t>
            </a:r>
            <a:r>
              <a:rPr lang="en-US" sz="3200" b="1" dirty="0"/>
              <a:t>Example Domain: </a:t>
            </a:r>
            <a:r>
              <a:rPr lang="en-US" sz="3200" b="1" dirty="0">
                <a:solidFill>
                  <a:srgbClr val="0070C0"/>
                </a:solidFill>
              </a:rPr>
              <a:t>Online</a:t>
            </a:r>
            <a:r>
              <a:rPr lang="en-US" sz="3200" b="1" dirty="0"/>
              <a:t> Retail Store</a:t>
            </a:r>
            <a:endParaRPr sz="3200" dirty="0"/>
          </a:p>
        </p:txBody>
      </p:sp>
      <p:sp>
        <p:nvSpPr>
          <p:cNvPr id="331" name="Google Shape;331;p36"/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8"/>
          <p:cNvSpPr txBox="1">
            <a:spLocks noGrp="1"/>
          </p:cNvSpPr>
          <p:nvPr>
            <p:ph type="subTitle" idx="1"/>
          </p:nvPr>
        </p:nvSpPr>
        <p:spPr>
          <a:xfrm>
            <a:off x="773151" y="1300976"/>
            <a:ext cx="7352874" cy="32561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-US" sz="2000" dirty="0"/>
              <a:t>Imagine you are building a database for an </a:t>
            </a:r>
            <a:r>
              <a:rPr lang="en-US" sz="2000" b="1" dirty="0"/>
              <a:t>online retail store</a:t>
            </a:r>
            <a:r>
              <a:rPr lang="en-US" sz="2000" dirty="0"/>
              <a:t>. This store allows customers to browse and buy products. When a customer places an order, the system needs to record: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Who made the purchase (Customer)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What products were purchased (Product)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How many items were bought (</a:t>
            </a:r>
            <a:r>
              <a:rPr lang="en-US" sz="2000" dirty="0" err="1"/>
              <a:t>OrderDetails</a:t>
            </a:r>
            <a:r>
              <a:rPr lang="en-US" sz="2000" dirty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When the order was placed (Order)</a:t>
            </a:r>
          </a:p>
          <a:p>
            <a:pPr marL="139700" indent="0" algn="l"/>
            <a:endParaRPr lang="en-US" sz="2000" dirty="0"/>
          </a:p>
        </p:txBody>
      </p:sp>
      <p:sp>
        <p:nvSpPr>
          <p:cNvPr id="4" name="Google Shape;295;p34">
            <a:extLst>
              <a:ext uri="{FF2B5EF4-FFF2-40B4-BE49-F238E27FC236}">
                <a16:creationId xmlns:a16="http://schemas.microsoft.com/office/drawing/2014/main" id="{07B6C2E8-6A1A-5EF9-DCCF-A13421B66D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ERD to MER Example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8"/>
          <p:cNvSpPr txBox="1">
            <a:spLocks noGrp="1"/>
          </p:cNvSpPr>
          <p:nvPr>
            <p:ph type="subTitle" idx="1"/>
          </p:nvPr>
        </p:nvSpPr>
        <p:spPr>
          <a:xfrm>
            <a:off x="773151" y="1300976"/>
            <a:ext cx="7352874" cy="32561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25450" indent="-285750" algn="l">
              <a:buClr>
                <a:srgbClr val="0070C0"/>
              </a:buClr>
              <a:buSzPct val="160000"/>
              <a:buFont typeface="Wingdings" panose="05000000000000000000" pitchFamily="2" charset="2"/>
              <a:buChar char="ü"/>
            </a:pPr>
            <a:r>
              <a:rPr lang="en-US" sz="1400" dirty="0"/>
              <a:t>In a </a:t>
            </a:r>
            <a:r>
              <a:rPr lang="en-US" sz="1400" b="1" dirty="0"/>
              <a:t>transactional system (OLTP)</a:t>
            </a:r>
            <a:r>
              <a:rPr lang="en-US" sz="1400" dirty="0"/>
              <a:t>, we design the database to efficiently handle many small operations like inserting new orders or updating product inventory. The design uses an </a:t>
            </a:r>
            <a:r>
              <a:rPr lang="en-US" sz="1400" b="1" dirty="0"/>
              <a:t>ERD (Entity Relationship Diagram)</a:t>
            </a:r>
            <a:r>
              <a:rPr lang="en-US" sz="1400" dirty="0"/>
              <a:t> with multiple </a:t>
            </a:r>
            <a:r>
              <a:rPr lang="en-US" sz="1400" b="1" dirty="0"/>
              <a:t>normalized tables</a:t>
            </a:r>
            <a:r>
              <a:rPr lang="en-US" sz="1400" dirty="0"/>
              <a:t> connected through relationships.</a:t>
            </a:r>
          </a:p>
          <a:p>
            <a:pPr algn="l"/>
            <a:r>
              <a:rPr lang="en-US" sz="1400" dirty="0"/>
              <a:t>But when we want to </a:t>
            </a:r>
            <a:r>
              <a:rPr lang="en-US" sz="1400" b="1" dirty="0"/>
              <a:t>analyze</a:t>
            </a:r>
            <a:r>
              <a:rPr lang="en-US" sz="1400" dirty="0"/>
              <a:t> the sales, such 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dirty="0"/>
              <a:t>What were the total sales last month?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dirty="0"/>
              <a:t>Which products are selling the most?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dirty="0"/>
              <a:t>Who are the top customers?</a:t>
            </a:r>
          </a:p>
          <a:p>
            <a:pPr algn="l">
              <a:buClr>
                <a:srgbClr val="0070C0"/>
              </a:buClr>
              <a:buSzPct val="160000"/>
              <a:buFont typeface="Wingdings" panose="05000000000000000000" pitchFamily="2" charset="2"/>
              <a:buChar char="ü"/>
            </a:pPr>
            <a:r>
              <a:rPr lang="en-US" sz="1400" dirty="0"/>
              <a:t>we need to transform this structure into a more </a:t>
            </a:r>
            <a:r>
              <a:rPr lang="en-US" sz="1400" b="1" dirty="0"/>
              <a:t>analytical model</a:t>
            </a:r>
            <a:r>
              <a:rPr lang="en-US" sz="1400" dirty="0"/>
              <a:t>, known as </a:t>
            </a:r>
            <a:r>
              <a:rPr lang="en-US" sz="1400" b="1" dirty="0"/>
              <a:t>MER (Multidimensional Entity Relationship)</a:t>
            </a:r>
            <a:r>
              <a:rPr lang="en-US" sz="1400" dirty="0"/>
              <a:t> or </a:t>
            </a:r>
            <a:r>
              <a:rPr lang="en-US" sz="1400" b="1" dirty="0"/>
              <a:t>Dimensional Modeling</a:t>
            </a:r>
            <a:r>
              <a:rPr lang="en-US" sz="1400" dirty="0"/>
              <a:t>, which uses a </a:t>
            </a:r>
            <a:r>
              <a:rPr lang="en-US" sz="1400" b="1" dirty="0"/>
              <a:t>Star Schema</a:t>
            </a:r>
            <a:r>
              <a:rPr lang="en-US" sz="1400" dirty="0"/>
              <a:t>.</a:t>
            </a:r>
          </a:p>
          <a:p>
            <a:pPr algn="l"/>
            <a:r>
              <a:rPr lang="en-US" sz="1400" dirty="0"/>
              <a:t>This transformation simplifies queries and speeds up analysis by organizing the data into a central </a:t>
            </a:r>
            <a:r>
              <a:rPr lang="en-US" sz="1400" b="1" dirty="0"/>
              <a:t>fact table</a:t>
            </a:r>
            <a:r>
              <a:rPr lang="en-US" sz="1400" dirty="0"/>
              <a:t> and several surrounding </a:t>
            </a:r>
            <a:r>
              <a:rPr lang="en-US" sz="1400" b="1" dirty="0"/>
              <a:t>dimension tables</a:t>
            </a:r>
            <a:r>
              <a:rPr lang="en-US" sz="1400" dirty="0"/>
              <a:t>.</a:t>
            </a:r>
          </a:p>
        </p:txBody>
      </p:sp>
      <p:sp>
        <p:nvSpPr>
          <p:cNvPr id="4" name="Google Shape;295;p34">
            <a:extLst>
              <a:ext uri="{FF2B5EF4-FFF2-40B4-BE49-F238E27FC236}">
                <a16:creationId xmlns:a16="http://schemas.microsoft.com/office/drawing/2014/main" id="{07B6C2E8-6A1A-5EF9-DCCF-A13421B66D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ERD to MER Example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9417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ar-SY" altLang="ar-SY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Step-by-Step</a:t>
            </a:r>
            <a:r>
              <a:rPr kumimoji="0" lang="ar-SY" altLang="ar-SY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Breakdown</a:t>
            </a:r>
            <a:endParaRPr kumimoji="0" lang="ar-SY" altLang="ar-SY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C811E-23D2-B0F4-F171-BA9A49AF5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5066" y="1223559"/>
            <a:ext cx="813716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ERD – </a:t>
            </a:r>
            <a:r>
              <a:rPr kumimoji="0" lang="en-US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</a:t>
            </a:r>
            <a:endParaRPr kumimoji="0" lang="ar-SY" altLang="ar-SY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Tables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</a:t>
            </a:r>
            <a:endParaRPr kumimoji="0" lang="en-US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Category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Relationships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belongs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/>
              <a:t>This structure is </a:t>
            </a:r>
            <a:r>
              <a:rPr lang="en-US" sz="1600" b="1" dirty="0"/>
              <a:t>normalized</a:t>
            </a:r>
            <a:r>
              <a:rPr lang="en-US" sz="1600" dirty="0"/>
              <a:t>, which is great for transactions but not ideal for reporting.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⭐ </a:t>
            </a:r>
            <a:r>
              <a:rPr kumimoji="0" lang="ar-SY" altLang="ar-SY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</a:t>
            </a:r>
            <a:r>
              <a:rPr kumimoji="0" lang="ar-SY" altLang="ar-SY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SY" altLang="ar-SY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</a:t>
            </a:r>
            <a:r>
              <a:rPr kumimoji="0" lang="ar-SY" altLang="ar-SY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</a:t>
            </a:r>
            <a:r>
              <a:rPr kumimoji="0" lang="ar-SY" altLang="ar-SY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ar-SY" altLang="ar-SY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</a:t>
            </a:r>
            <a:r>
              <a:rPr kumimoji="0" lang="ar-SY" altLang="ar-SY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</a:t>
            </a:r>
            <a:endParaRPr kumimoji="0" lang="ar-SY" altLang="ar-SY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0EBF353-D6E0-0AAE-956C-2D170014F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0000" y="1062585"/>
            <a:ext cx="843211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Y" altLang="ar-SY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questions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r-SY" altLang="ar-SY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🧮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FactSales</a:t>
            </a:r>
            <a:endParaRPr kumimoji="0" lang="ar-SY" altLang="ar-SY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quantitative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Attributes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OrderID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CustomerID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ProductID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OrderDateKey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Quantity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TotalPrice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CustomerID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ProductID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OrderDateKey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referencing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Quantity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TotalPrice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175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⭐ </a:t>
            </a:r>
            <a:r>
              <a:rPr kumimoji="0" lang="ar-SY" altLang="ar-SY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</a:t>
            </a:r>
            <a:r>
              <a:rPr kumimoji="0" lang="ar-SY" altLang="ar-SY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SY" altLang="ar-SY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</a:t>
            </a:r>
            <a:r>
              <a:rPr kumimoji="0" lang="ar-SY" altLang="ar-SY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</a:t>
            </a:r>
            <a:r>
              <a:rPr kumimoji="0" lang="ar-SY" altLang="ar-SY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ar-SY" altLang="ar-SY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</a:t>
            </a:r>
            <a:r>
              <a:rPr kumimoji="0" lang="ar-SY" altLang="ar-SY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</a:t>
            </a:r>
            <a:endParaRPr kumimoji="0" lang="ar-SY" altLang="ar-SY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D49A6-3277-B32C-354A-7D8EFE941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0000" y="1169987"/>
            <a:ext cx="631309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📁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DimCustomer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CustomerID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Email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Phone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Address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DimProduct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ProductID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ProductName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Category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Price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DimDate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DateKey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FullDate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Year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Month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Day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Quarter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describes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angle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bought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bought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651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❄️ </a:t>
            </a:r>
            <a:r>
              <a:rPr kumimoji="0" lang="ar-SY" altLang="ar-SY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Upgrade</a:t>
            </a:r>
            <a:r>
              <a:rPr kumimoji="0" lang="ar-SY" altLang="ar-SY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SY" altLang="ar-SY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Snowflake</a:t>
            </a:r>
            <a:r>
              <a:rPr kumimoji="0" lang="ar-SY" altLang="ar-SY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</a:t>
            </a:r>
            <a:r>
              <a:rPr kumimoji="0" lang="ar-SY" altLang="ar-SY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ar-SY" altLang="ar-SY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kumimoji="0" lang="ar-SY" altLang="ar-SY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Normalized</a:t>
            </a:r>
            <a:r>
              <a:rPr kumimoji="0" lang="ar-SY" altLang="ar-SY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Dimensions</a:t>
            </a:r>
            <a:endParaRPr kumimoji="0" lang="ar-SY" altLang="ar-SY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F8D5B4-777E-F4E5-DF75-8726091473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0725" y="1293049"/>
            <a:ext cx="773000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further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redundancy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dimensions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r-SY" altLang="ar-SY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DimProduct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becomes</a:t>
            </a:r>
            <a:r>
              <a:rPr kumimoji="0" lang="ar-SY" altLang="ar-SY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DimProduct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ProductID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ProductName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CategoryID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Price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DimCategory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CategoryID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CategoryName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Now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storing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Y" altLang="ar-SY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DimCategory</a:t>
            </a:r>
            <a:r>
              <a:rPr kumimoji="0" lang="ar-SY" altLang="ar-SY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ar-SY" altLang="ar-SY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58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2517450" y="1631330"/>
            <a:ext cx="5067600" cy="1880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Know </a:t>
            </a:r>
            <a:br>
              <a:rPr lang="en-US" sz="3200" dirty="0"/>
            </a:br>
            <a:r>
              <a:rPr lang="en-US" sz="3200" dirty="0"/>
              <a:t>Your</a:t>
            </a:r>
            <a:br>
              <a:rPr lang="en-US" sz="3200" dirty="0"/>
            </a:br>
            <a:r>
              <a:rPr lang="en-US" sz="3200" dirty="0"/>
              <a:t> </a:t>
            </a:r>
            <a:r>
              <a:rPr lang="en-US" sz="6000" dirty="0">
                <a:solidFill>
                  <a:srgbClr val="0070C0"/>
                </a:solidFill>
              </a:rPr>
              <a:t>Data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331" name="Google Shape;331;p36"/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1253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BF42-C009-16D8-EA14-C5004759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🎯 Why You Must Know Your Data (Before Analysis)</a:t>
            </a:r>
            <a:endParaRPr lang="ar-SY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F8872-7EFA-8F6D-22E4-8F8A0C142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0">
              <a:buNone/>
            </a:pPr>
            <a:r>
              <a:rPr lang="en-US" b="1" dirty="0">
                <a:solidFill>
                  <a:srgbClr val="0070C0"/>
                </a:solidFill>
              </a:rPr>
              <a:t>1</a:t>
            </a:r>
            <a:r>
              <a:rPr lang="en-US" b="1" dirty="0"/>
              <a:t>. Real-world Data is Never Perfect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is often </a:t>
            </a:r>
            <a:r>
              <a:rPr lang="en-US" b="1" dirty="0"/>
              <a:t>noisy</a:t>
            </a:r>
            <a:r>
              <a:rPr lang="en-US" dirty="0"/>
              <a:t>, </a:t>
            </a:r>
            <a:r>
              <a:rPr lang="en-US" b="1" dirty="0"/>
              <a:t>incomplete</a:t>
            </a:r>
            <a:r>
              <a:rPr lang="en-US" dirty="0"/>
              <a:t>, </a:t>
            </a:r>
            <a:r>
              <a:rPr lang="en-US" b="1" dirty="0"/>
              <a:t>inconsistent</a:t>
            </a:r>
            <a:r>
              <a:rPr lang="en-US" dirty="0"/>
              <a:t>, and comes from </a:t>
            </a:r>
            <a:r>
              <a:rPr lang="en-US" b="1" dirty="0"/>
              <a:t>heterogeneous sources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can't trust data immediately — you need to </a:t>
            </a:r>
            <a:r>
              <a:rPr lang="en-US" b="1" dirty="0"/>
              <a:t>explore and understand it first</a:t>
            </a:r>
            <a:r>
              <a:rPr lang="en-US" dirty="0"/>
              <a:t>.</a:t>
            </a:r>
          </a:p>
          <a:p>
            <a:pPr marL="177800" indent="0">
              <a:buNone/>
            </a:pPr>
            <a:r>
              <a:rPr lang="en-US" b="1" dirty="0">
                <a:solidFill>
                  <a:srgbClr val="0070C0"/>
                </a:solidFill>
              </a:rPr>
              <a:t>2</a:t>
            </a:r>
            <a:r>
              <a:rPr lang="en-US" b="1" dirty="0"/>
              <a:t>. Understand Data Attributes</a:t>
            </a:r>
          </a:p>
          <a:p>
            <a:r>
              <a:rPr lang="en-US" dirty="0"/>
              <a:t>Before any preprocessing or modeling, ask: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</a:t>
            </a:r>
            <a:r>
              <a:rPr lang="en-US" b="1" dirty="0"/>
              <a:t>attributes (fields)</a:t>
            </a:r>
            <a:r>
              <a:rPr lang="en-US" dirty="0"/>
              <a:t> exist in your data?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their types?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Nominal</a:t>
            </a:r>
            <a:r>
              <a:rPr lang="en-US" dirty="0"/>
              <a:t>: names or categories (e.g., hair color, marital status)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Binary</a:t>
            </a:r>
            <a:r>
              <a:rPr lang="en-US" dirty="0"/>
              <a:t>: two states only (e.g., smoker: yes/no)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Ordinal</a:t>
            </a:r>
            <a:r>
              <a:rPr lang="en-US" dirty="0"/>
              <a:t>: ordered categories (e.g., small, medium, large)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Numeric</a:t>
            </a:r>
            <a:r>
              <a:rPr lang="en-US" dirty="0"/>
              <a:t>: measurable values (e.g., age, income)</a:t>
            </a:r>
          </a:p>
          <a:p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223260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BF42-C009-16D8-EA14-C5004759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🎯 Why You Must Know Your Data (Before Analysis)</a:t>
            </a:r>
            <a:endParaRPr lang="ar-SY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F8872-7EFA-8F6D-22E4-8F8A0C142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0">
              <a:buNone/>
            </a:pPr>
            <a:r>
              <a:rPr lang="en-US" b="1" dirty="0">
                <a:solidFill>
                  <a:srgbClr val="0070C0"/>
                </a:solidFill>
              </a:rPr>
              <a:t>3</a:t>
            </a:r>
            <a:r>
              <a:rPr lang="en-US" b="1" dirty="0"/>
              <a:t>. Analyze Attribute Values</a:t>
            </a:r>
          </a:p>
          <a:p>
            <a:r>
              <a:rPr lang="en-US" dirty="0"/>
              <a:t>Use basic statistical summaries to understand the distribution: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Mean</a:t>
            </a:r>
            <a:r>
              <a:rPr lang="en-US" dirty="0"/>
              <a:t> – average value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Median</a:t>
            </a:r>
            <a:r>
              <a:rPr lang="en-US" dirty="0"/>
              <a:t> – middle value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Mode</a:t>
            </a:r>
            <a:r>
              <a:rPr lang="en-US" dirty="0"/>
              <a:t> – most frequent value</a:t>
            </a:r>
          </a:p>
          <a:p>
            <a:r>
              <a:rPr lang="en-US" dirty="0"/>
              <a:t>Knowing these helps in: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Filling missing values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Detecting </a:t>
            </a:r>
            <a:r>
              <a:rPr lang="en-US" b="1" dirty="0"/>
              <a:t>outliers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Smoothing </a:t>
            </a:r>
            <a:r>
              <a:rPr lang="en-US" b="1" dirty="0"/>
              <a:t>noisy data</a:t>
            </a:r>
            <a:endParaRPr lang="en-US" dirty="0"/>
          </a:p>
          <a:p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426208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BF42-C009-16D8-EA14-C5004759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🎯 Why You Must Know Your Data (Before Analysis)</a:t>
            </a:r>
            <a:endParaRPr lang="ar-SY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F8872-7EFA-8F6D-22E4-8F8A0C142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0">
              <a:buNone/>
            </a:pPr>
            <a:r>
              <a:rPr lang="en-US" b="1" dirty="0">
                <a:solidFill>
                  <a:srgbClr val="0070C0"/>
                </a:solidFill>
              </a:rPr>
              <a:t>4</a:t>
            </a:r>
            <a:r>
              <a:rPr lang="en-US" b="1" dirty="0"/>
              <a:t>. Visualize Your Data</a:t>
            </a:r>
          </a:p>
          <a:p>
            <a:r>
              <a:rPr lang="en-US" dirty="0"/>
              <a:t>Visualization reveals hidden patterns, distributions, and trends: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visual tools: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Histograms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Scatter plots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Quantile plots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tools: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Tree maps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Box plots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Heatmaps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67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BF42-C009-16D8-EA14-C5004759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🎯 Why You Must Know Your Data (Before Analysis)</a:t>
            </a:r>
            <a:endParaRPr lang="ar-SY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F8872-7EFA-8F6D-22E4-8F8A0C142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0">
              <a:buNone/>
            </a:pP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5</a:t>
            </a:r>
            <a:r>
              <a:rPr lang="en-US" b="1" dirty="0"/>
              <a:t>. Measure Similarity Between Data Points</a:t>
            </a:r>
          </a:p>
          <a:p>
            <a:r>
              <a:rPr lang="en-US" dirty="0"/>
              <a:t>Understanding similarity/dissimilarity allows: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Clustering</a:t>
            </a:r>
            <a:r>
              <a:rPr lang="en-US" dirty="0"/>
              <a:t> of similar records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Outlier detection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Nearest-neighbor classification</a:t>
            </a:r>
            <a:r>
              <a:rPr lang="en-US" dirty="0"/>
              <a:t> (e.g., k-NN)</a:t>
            </a:r>
          </a:p>
          <a:p>
            <a:r>
              <a:rPr lang="en-US" dirty="0"/>
              <a:t>You can use: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Distance-based</a:t>
            </a:r>
            <a:r>
              <a:rPr lang="en-US" dirty="0"/>
              <a:t> measures (e.g., Euclidean)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Probability-based</a:t>
            </a:r>
            <a:r>
              <a:rPr lang="en-US" dirty="0"/>
              <a:t> measures</a:t>
            </a:r>
          </a:p>
          <a:p>
            <a:pPr marL="1778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031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BF42-C009-16D8-EA14-C5004759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🎯 Why You Must Know Your Data (Before Analysis)</a:t>
            </a:r>
            <a:endParaRPr lang="ar-SY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F8872-7EFA-8F6D-22E4-8F8A0C142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0">
              <a:buNone/>
            </a:pP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6</a:t>
            </a:r>
            <a:r>
              <a:rPr lang="en-US" b="1" dirty="0"/>
              <a:t>. Classify Attributes 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Discrete Attributes</a:t>
            </a:r>
            <a:r>
              <a:rPr lang="en-US" dirty="0"/>
              <a:t>: limited or countable values (e.g., gender, marital status)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Continuous Attributes</a:t>
            </a:r>
            <a:r>
              <a:rPr lang="en-US" dirty="0"/>
              <a:t>: infinite range of numeric values (e.g., height, temperature)</a:t>
            </a:r>
          </a:p>
          <a:p>
            <a:pPr marL="1778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176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2517450" y="1631330"/>
            <a:ext cx="5067600" cy="1880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Data</a:t>
            </a:r>
            <a:br>
              <a:rPr lang="en-US" sz="4000" dirty="0"/>
            </a:br>
            <a:r>
              <a:rPr lang="en-US" sz="4000" dirty="0"/>
              <a:t> </a:t>
            </a:r>
            <a:r>
              <a:rPr lang="en-US" sz="4000" dirty="0">
                <a:solidFill>
                  <a:srgbClr val="0070C0"/>
                </a:solidFill>
              </a:rPr>
              <a:t>Pre</a:t>
            </a:r>
            <a:r>
              <a:rPr lang="en-US" sz="4000" dirty="0"/>
              <a:t>processing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331" name="Google Shape;331;p36"/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Y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303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BF42-C009-16D8-EA14-C5004759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📊 What is Data Preprocessing?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F8872-7EFA-8F6D-22E4-8F8A0C142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0">
              <a:buNone/>
            </a:pPr>
            <a:r>
              <a:rPr lang="en-US" b="1" dirty="0"/>
              <a:t>Data Preprocessing</a:t>
            </a:r>
            <a:r>
              <a:rPr lang="en-US" dirty="0"/>
              <a:t> is a critical initial step in the data mining and data science process. It refers to a set of techniques used to </a:t>
            </a:r>
            <a:r>
              <a:rPr lang="en-US" b="1" dirty="0"/>
              <a:t>prepare raw data</a:t>
            </a:r>
            <a:r>
              <a:rPr lang="en-US" dirty="0"/>
              <a:t> for further analysis, ensuring better quality and more accurate outcomes.</a:t>
            </a:r>
          </a:p>
        </p:txBody>
      </p:sp>
    </p:spTree>
    <p:extLst>
      <p:ext uri="{BB962C8B-B14F-4D97-AF65-F5344CB8AC3E}">
        <p14:creationId xmlns:p14="http://schemas.microsoft.com/office/powerpoint/2010/main" val="3609186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BF42-C009-16D8-EA14-C5004759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🧠 Why is Preprocessing Necessary?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F8872-7EFA-8F6D-22E4-8F8A0C142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data is often: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Noisy</a:t>
            </a:r>
            <a:r>
              <a:rPr lang="en-US" dirty="0"/>
              <a:t> (contains random errors or outliers)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Incomplete</a:t>
            </a:r>
            <a:r>
              <a:rPr lang="en-US" dirty="0"/>
              <a:t> (has missing values or lacks important features)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Inconsistent</a:t>
            </a:r>
            <a:r>
              <a:rPr lang="en-US" dirty="0"/>
              <a:t> (conflicting or duplicated records)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Heterogeneous</a:t>
            </a:r>
            <a:r>
              <a:rPr lang="en-US" dirty="0"/>
              <a:t> (from multiple and different sources)</a:t>
            </a:r>
          </a:p>
          <a:p>
            <a:r>
              <a:rPr lang="en-US" dirty="0"/>
              <a:t>Without proper preprocessing, these issues can lead to </a:t>
            </a:r>
            <a:r>
              <a:rPr lang="en-US" b="1" dirty="0"/>
              <a:t>misleading analyses and poor model performance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6982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BF42-C009-16D8-EA14-C5004759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🔍 Main Goals of Data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F8872-7EFA-8F6D-22E4-8F8A0C142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0070C0"/>
              </a:buClr>
              <a:buSzPct val="160000"/>
              <a:buFont typeface="Wingdings" panose="05000000000000000000" pitchFamily="2" charset="2"/>
              <a:buChar char="§"/>
            </a:pPr>
            <a:r>
              <a:rPr lang="en-US" sz="1600" dirty="0"/>
              <a:t>Improve data </a:t>
            </a:r>
            <a:r>
              <a:rPr lang="en-US" sz="1600" b="1" dirty="0"/>
              <a:t>quality</a:t>
            </a:r>
          </a:p>
          <a:p>
            <a:pPr>
              <a:buClr>
                <a:srgbClr val="0070C0"/>
              </a:buClr>
              <a:buSzPct val="160000"/>
              <a:buFont typeface="Wingdings" panose="05000000000000000000" pitchFamily="2" charset="2"/>
              <a:buChar char="§"/>
            </a:pPr>
            <a:r>
              <a:rPr lang="en-US" sz="1600" dirty="0"/>
              <a:t>Ensure </a:t>
            </a:r>
            <a:r>
              <a:rPr lang="en-US" sz="1600" b="1" dirty="0"/>
              <a:t>consistency</a:t>
            </a:r>
            <a:r>
              <a:rPr lang="en-US" sz="1600" dirty="0"/>
              <a:t> across different sources</a:t>
            </a:r>
          </a:p>
          <a:p>
            <a:pPr>
              <a:buClr>
                <a:srgbClr val="0070C0"/>
              </a:buClr>
              <a:buSzPct val="160000"/>
              <a:buFont typeface="Wingdings" panose="05000000000000000000" pitchFamily="2" charset="2"/>
              <a:buChar char="§"/>
            </a:pPr>
            <a:r>
              <a:rPr lang="en-US" sz="1600" dirty="0"/>
              <a:t>Reduce </a:t>
            </a:r>
            <a:r>
              <a:rPr lang="en-US" sz="1600" b="1" dirty="0"/>
              <a:t>data volume</a:t>
            </a:r>
            <a:r>
              <a:rPr lang="en-US" sz="1600" dirty="0"/>
              <a:t> without losing important information</a:t>
            </a:r>
          </a:p>
          <a:p>
            <a:pPr>
              <a:buClr>
                <a:srgbClr val="0070C0"/>
              </a:buClr>
              <a:buSzPct val="160000"/>
              <a:buFont typeface="Wingdings" panose="05000000000000000000" pitchFamily="2" charset="2"/>
              <a:buChar char="§"/>
            </a:pPr>
            <a:r>
              <a:rPr lang="en-US" sz="1600" dirty="0"/>
              <a:t>Transform data into a form suitable for mining or modeling</a:t>
            </a:r>
          </a:p>
        </p:txBody>
      </p:sp>
    </p:spTree>
    <p:extLst>
      <p:ext uri="{BB962C8B-B14F-4D97-AF65-F5344CB8AC3E}">
        <p14:creationId xmlns:p14="http://schemas.microsoft.com/office/powerpoint/2010/main" val="3910870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BF42-C009-16D8-EA14-C5004759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Y" sz="2400" b="1" dirty="0"/>
              <a:t>🛠️ </a:t>
            </a:r>
            <a:r>
              <a:rPr lang="en-US" sz="2400" b="1" dirty="0"/>
              <a:t>Key Preprocessing Tasks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F8872-7EFA-8F6D-22E4-8F8A0C142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0070C0"/>
              </a:buClr>
              <a:buSzPct val="160000"/>
              <a:buFont typeface="Wingdings" panose="05000000000000000000" pitchFamily="2" charset="2"/>
              <a:buChar char="§"/>
            </a:pPr>
            <a:r>
              <a:rPr lang="en-US" sz="2000" dirty="0"/>
              <a:t>Data Cleaning</a:t>
            </a:r>
          </a:p>
          <a:p>
            <a:pPr>
              <a:buClr>
                <a:srgbClr val="0070C0"/>
              </a:buClr>
              <a:buSzPct val="160000"/>
              <a:buFont typeface="Wingdings" panose="05000000000000000000" pitchFamily="2" charset="2"/>
              <a:buChar char="§"/>
            </a:pPr>
            <a:r>
              <a:rPr lang="en-US" sz="2000" dirty="0"/>
              <a:t>Data Integration</a:t>
            </a:r>
          </a:p>
          <a:p>
            <a:pPr>
              <a:buClr>
                <a:srgbClr val="0070C0"/>
              </a:buClr>
              <a:buSzPct val="160000"/>
              <a:buFont typeface="Wingdings" panose="05000000000000000000" pitchFamily="2" charset="2"/>
              <a:buChar char="§"/>
            </a:pPr>
            <a:r>
              <a:rPr lang="en-US" sz="2000" dirty="0"/>
              <a:t>Data Reduction</a:t>
            </a:r>
          </a:p>
          <a:p>
            <a:pPr>
              <a:buClr>
                <a:srgbClr val="0070C0"/>
              </a:buClr>
              <a:buSzPct val="160000"/>
              <a:buFont typeface="Wingdings" panose="05000000000000000000" pitchFamily="2" charset="2"/>
              <a:buChar char="§"/>
            </a:pPr>
            <a:r>
              <a:rPr lang="en-US" sz="2000" dirty="0"/>
              <a:t>Data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041106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E76D9A-19E3-10F3-DAA9-5252EE099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475" y="1211580"/>
            <a:ext cx="5067600" cy="1201170"/>
          </a:xfrm>
        </p:spPr>
        <p:txBody>
          <a:bodyPr/>
          <a:lstStyle/>
          <a:p>
            <a:r>
              <a:rPr lang="en-US" sz="5400" b="1" dirty="0"/>
              <a:t>Thanks!</a:t>
            </a:r>
            <a:endParaRPr lang="ar-SY" dirty="0"/>
          </a:p>
        </p:txBody>
      </p:sp>
      <p:sp>
        <p:nvSpPr>
          <p:cNvPr id="857" name="Google Shape;857;p60"/>
          <p:cNvSpPr txBox="1">
            <a:spLocks noGrp="1"/>
          </p:cNvSpPr>
          <p:nvPr>
            <p:ph type="subTitle" idx="1"/>
          </p:nvPr>
        </p:nvSpPr>
        <p:spPr>
          <a:xfrm>
            <a:off x="1216475" y="224307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</a:rPr>
              <a:t>Any question?</a:t>
            </a:r>
            <a:endParaRPr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1301</Words>
  <Application>Microsoft Office PowerPoint</Application>
  <PresentationFormat>On-screen Show (16:9)</PresentationFormat>
  <Paragraphs>189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Hanken Grotesk</vt:lpstr>
      <vt:lpstr>Wingdings</vt:lpstr>
      <vt:lpstr>Arial Unicode MS</vt:lpstr>
      <vt:lpstr>Arial</vt:lpstr>
      <vt:lpstr>Figtree Black</vt:lpstr>
      <vt:lpstr>Elegant Black &amp; White Thesis Defense by Slidesgo</vt:lpstr>
      <vt:lpstr>Advanced Databases</vt:lpstr>
      <vt:lpstr>OLTP vs OLAP – Key Differences</vt:lpstr>
      <vt:lpstr>OLTP vs OLAP – Key Differences</vt:lpstr>
      <vt:lpstr>OLTP vs OLAP – Key Differences</vt:lpstr>
      <vt:lpstr>OLTP vs OLAP – Key Differences</vt:lpstr>
      <vt:lpstr>OLTP vs OLAP – Key Differences</vt:lpstr>
      <vt:lpstr>🛒 Example Domain: Online Retail Store</vt:lpstr>
      <vt:lpstr>ERD to MER Example</vt:lpstr>
      <vt:lpstr>ERD to MER Example</vt:lpstr>
      <vt:lpstr>✅ Step-by-Step Breakdown</vt:lpstr>
      <vt:lpstr>⭐ Solution: Star Schema – Analytical Design</vt:lpstr>
      <vt:lpstr>⭐ Solution: Star Schema – Analytical Design</vt:lpstr>
      <vt:lpstr>❄️ Upgrade: Snowflake Schema – More Normalized Dimensions</vt:lpstr>
      <vt:lpstr>Know  Your  Data</vt:lpstr>
      <vt:lpstr>🎯 Why You Must Know Your Data (Before Analysis)</vt:lpstr>
      <vt:lpstr>🎯 Why You Must Know Your Data (Before Analysis)</vt:lpstr>
      <vt:lpstr>🎯 Why You Must Know Your Data (Before Analysis)</vt:lpstr>
      <vt:lpstr>🎯 Why You Must Know Your Data (Before Analysis)</vt:lpstr>
      <vt:lpstr>🎯 Why You Must Know Your Data (Before Analysis)</vt:lpstr>
      <vt:lpstr>Data  Preprocessing</vt:lpstr>
      <vt:lpstr>📊 What is Data Preprocessing?</vt:lpstr>
      <vt:lpstr>🧠 Why is Preprocessing Necessary?</vt:lpstr>
      <vt:lpstr>🔍 Main Goals of Data Preprocessing</vt:lpstr>
      <vt:lpstr>🛠️ Key Preprocessing Tasks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Black and White Thesis Defense</dc:title>
  <cp:lastModifiedBy>Khouzama Alyoussef</cp:lastModifiedBy>
  <cp:revision>11</cp:revision>
  <dcterms:modified xsi:type="dcterms:W3CDTF">2025-11-23T06:22:35Z</dcterms:modified>
</cp:coreProperties>
</file>